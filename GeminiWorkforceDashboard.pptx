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EXECUTIVE BRIEFING ·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F172A"/>
                </a:solidFill>
                <a:latin typeface="Calibri"/>
              </a:rPr>
              <a:t>Gemini </a:t>
            </a:r>
            <a:r>
              <a:rPr sz="4000" b="1">
                <a:solidFill>
                  <a:srgbClr val="2563EB"/>
                </a:solidFill>
                <a:latin typeface="Calibri"/>
              </a:rPr>
              <a:t>Workforce</a:t>
            </a:r>
          </a:p>
          <a:p>
            <a:pPr algn="l">
              <a:spcBef>
                <a:spcPts val="0"/>
              </a:spcBef>
            </a:pPr>
            <a:r>
              <a:rPr sz="4000" b="1">
                <a:solidFill>
                  <a:srgbClr val="0F172A"/>
                </a:solidFill>
                <a:latin typeface="Calibr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43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AI-powered workforce &amp; spend intelligence —
natural language to live charts in seconds, not weeks.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520440"/>
            <a:ext cx="1705356" cy="2103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3547872"/>
            <a:ext cx="16139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Calibri"/>
              </a:rPr>
              <a:t>🤖  Gemini 2.5 Flash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1156" y="3520440"/>
            <a:ext cx="1239012" cy="21031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4308" y="3547872"/>
            <a:ext cx="114757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Calibri"/>
              </a:rPr>
              <a:t>☁️  Cloud 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21608" y="3520440"/>
            <a:ext cx="1083564" cy="21031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3547872"/>
            <a:ext cx="99212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alibri"/>
              </a:rPr>
              <a:t>📊  BigQuery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96612" y="3520440"/>
            <a:ext cx="1627632" cy="2103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9764" y="3547872"/>
            <a:ext cx="153619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alibri"/>
              </a:rPr>
              <a:t>⚡  Real-time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Audience: Senior Managers · Architects          Status: Active 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502920"/>
            <a:ext cx="34747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5760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5577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Gemini 2.5 Flash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81381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AI Agent · NL→SQL · Chat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600200"/>
            <a:ext cx="34747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16733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165506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Google BigQuery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191109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Petabyte-scale Data Warehouse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2697480"/>
            <a:ext cx="34747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7706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⚛️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27523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React + TypeScript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30083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Drag-drop Dashboard SPA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794760"/>
            <a:ext cx="34747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8679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384962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FastAPI (Python)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41056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Async REST + SSE Backend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4892040"/>
            <a:ext cx="34747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49651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49469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Cloud 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52029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Serverless · Scale-to-Zero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01 ·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Workforce insights are too slow, too manual, too siloed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Every data question becomes a ticket. Every chart takes days. Every manager is blocked.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57607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📋  Reporting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65376"/>
            <a:ext cx="54864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Ad-hoc spend questions require SQL engineers — 2–5 day turnaround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Monthly workforce reports assembled manually from BigQuery exports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Business leaders make decisions on stale snapshots, not live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81328"/>
            <a:ext cx="57607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📦  Data Siloed &amp; Opaque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65376"/>
            <a:ext cx="54864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Workforce, vendor, spend &amp; FTE data spans 3 environments (DEV/UAT/PRD)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No single view — managers switch between BigQuery, Excel, email threads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Schema knowledge locked inside a few engineers' heads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493008"/>
            <a:ext cx="57607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🔐  Access &amp; Governance Friction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77056"/>
            <a:ext cx="54864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Tableau / PowerBI licenses are expensive and require analyst training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Granting direct BigQuery access to non-technical users is a security risk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No per-user audit trail for data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493008"/>
            <a:ext cx="57607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🔄  No Self-Service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77056"/>
            <a:ext cx="54864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"Top 10 vendors by offshore spend this quarter" — requires a Jira ticket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Dashboard requests pile up in the BI team backlog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Non-technical PMs cannot explore data independently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532120"/>
            <a:ext cx="11521440" cy="91440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5961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Calibri"/>
              </a:rP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778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alibri"/>
              </a:rPr>
              <a:t>Business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338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8350F"/>
                </a:solidFill>
                <a:latin typeface="Calibri"/>
              </a:rPr>
              <a:t>Delayed workforce decisions cost time and budget. When capital vs. expense classifications are wrong by even one month, it affects financial reporting across the entire portfolio.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02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Ask any question in plain English — get a live chart in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Gemini Workforce Dashboard puts real-time BigQuery analytics in the hands of every manager, with zero SQL.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81328"/>
            <a:ext cx="2212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72768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Calibri"/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20240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Natural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48840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Type plain English — AI generates BigQuery SQL &amp; renders a chart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481328"/>
            <a:ext cx="2212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4056" y="1572768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Calibr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1920240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Conversational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6" y="2148840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Multi-turn chat with live data — follow-up, refine, drill 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28616" y="1481328"/>
            <a:ext cx="2212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8344" y="1572768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1920240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Live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344" y="2148840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Drag-drop widgets from chat, pin favourites, save layouts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32904" y="1481328"/>
            <a:ext cx="2212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1572768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Calibri"/>
              </a:rP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2" y="1920240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Multi-Environment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2" y="2148840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DEV / UAT / PRD tabs with isolated data &amp; scorecard views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37192" y="1481328"/>
            <a:ext cx="2212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1572768"/>
            <a:ext cx="2029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  <a:latin typeface="Calibri"/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1920240"/>
            <a:ext cx="2029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PDF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148840"/>
            <a:ext cx="20299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One-click branded PDF with AI-generated narrative per widget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926080"/>
            <a:ext cx="55778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09067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Built-in Scorecard 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10128"/>
            <a:ext cx="530352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✓ FTE &amp; Hierarchy — headcount, capital vs. expense, monthly FTP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✓ Vendor Summary — offshore/onshore split, tier breakdown, YTD spend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✓ Hierarchy Drill — org-level spend waterfall with vendor mix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✓ Airflow DAG monitor — live pipeline health per environment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✓ Schema Audit — cross-environment data quality checks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✓ Excel Mapping — source-to-BigQuery field lineage preview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926080"/>
            <a:ext cx="58064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090672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Who Benefits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310128"/>
            <a:ext cx="553212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👔  Senior Managers — Self-service spend insight without waiting on BI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🏗️  Architects — Live environment health, schema validation, pipeline monitoring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📋  Program Managers — Portfolio spend, intake status, resource allocation at a glance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334155"/>
                </a:solidFill>
                <a:latin typeface="Calibri"/>
              </a:rPr>
              <a:t>• 💰  Finance Teams — Capital vs. expense classification, YTD vs. budget variance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Single-container deployment on Cloud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React SPA + FastAPI backend ship as one Docker image. Scale-to-zero, no idle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49834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72768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Calibri"/>
              </a:rPr>
              <a:t>BROWSER (CLIENT)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828800"/>
            <a:ext cx="3529583" cy="43891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20240"/>
            <a:ext cx="3346703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 b="1">
                <a:solidFill>
                  <a:srgbClr val="334155"/>
                </a:solidFill>
                <a:latin typeface="Calibri"/>
              </a:rPr>
              <a:t>React SPA (TypeScript + Vite)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Dashboard Grid — React Grid Layout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Scorecard Tabs: FTE / Vendor / Hierarchy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AI Chat Panel — SSE streaming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Charts: Recharts · 8 chart types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DataTable with sort &amp; pagination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Query Bar, Glossary, Favorites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481328"/>
            <a:ext cx="4160520" cy="4983480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572768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alibri"/>
              </a:rPr>
              <a:t>CLOUD RUN CONTAINER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28800"/>
            <a:ext cx="3941064" cy="43891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920240"/>
            <a:ext cx="37581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 b="1">
                <a:solidFill>
                  <a:srgbClr val="334155"/>
                </a:solidFill>
                <a:latin typeface="Calibri"/>
              </a:rPr>
              <a:t>FastAPI + uvicorn (Python 3.12)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POST /api/chat/stream — SSE agent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POST /api/query — NL → SQL → chart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GET /api/scorecard/{fte,vendor,hierarchy}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POST /api/pdf — Playwright PDF export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CRUD /api/glossary + /api/favorites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SQLite — glossary &amp; favorites 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1481328"/>
            <a:ext cx="3429000" cy="498348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572768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D9488"/>
                </a:solidFill>
                <a:latin typeface="Calibri"/>
              </a:rPr>
              <a:t>GOOGLE CLOUD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67928" y="1828800"/>
            <a:ext cx="3209544" cy="43891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9368" y="1920240"/>
            <a:ext cx="30266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 b="1">
                <a:solidFill>
                  <a:srgbClr val="334155"/>
                </a:solidFill>
                <a:latin typeface="Calibri"/>
              </a:rPr>
              <a:t>Vertex AI — Gemini 2.5 Flash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• Function calling / tool use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• Multi-turn chat sessions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BigQuery — data warehouse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• Schema introspection at startup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• Ad-hoc query execution</a:t>
            </a:r>
          </a:p>
          <a:p>
            <a:pPr>
              <a:spcBef>
                <a:spcPts val="200"/>
              </a:spcBef>
            </a:pPr>
            <a:r>
              <a:rPr sz="950" b="0">
                <a:solidFill>
                  <a:srgbClr val="334155"/>
                </a:solidFill>
                <a:latin typeface="Calibri"/>
              </a:rPr>
              <a:t>Google OAuth2 — user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5928" y="39776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9776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537960"/>
            <a:ext cx="115671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5624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🐳  One Docker image — React build into FastAPI static/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655624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📡  SSE streaming for real-time agent status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655624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📐  Widget layouts in localStorage — no server-side layout 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04 · AGENT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How the AI agent answers a question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Two paths: fast conversational (~1s) and an agent loop with live BigQuery tool calls (~3–6s).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577840" cy="292608"/>
          </a:xfrm>
          <a:prstGeom prst="rect">
            <a:avLst/>
          </a:prstGeom>
          <a:solidFill>
            <a:srgbClr val="DCFCE7"/>
          </a:solidFill>
          <a:ln w="63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Calibri"/>
              </a:rPr>
              <a:t>⚡  FAST PATH  —  ~1 second  ·  No BigQuery  ·  Conversational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4708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9280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5230368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928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User message arrives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1214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e.g. "What does YTD mean?" / "Explain capital vs. expense"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96896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64261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596896"/>
            <a:ext cx="5230368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Intent Classifier (0ms)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712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Regex check — no analytical keywords detected → route to fast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46704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392424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346704"/>
            <a:ext cx="5230368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3924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Single Gemini call — chat_turn()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621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No tools attached, schema context + glossary injected, history preserved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96512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14223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096512"/>
            <a:ext cx="5230368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1422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JSON → SSE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370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{ text, intent:"explain", suggested_questions } streamed immediately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481328"/>
            <a:ext cx="5806440" cy="292608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1517904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🤖  AGENT PATH  —  3–6 seconds  ·  Live BigQuery queries  ·  Data &amp; chart questions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84708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1892808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1847088"/>
            <a:ext cx="5458968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1892808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Intent Classifier →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212140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e.g. "Show me top 10 vendors by YTD spend" → analytical keywords detected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96896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264261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596896"/>
            <a:ext cx="5458968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2642616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Contextual Hints (parallel)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287121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Matching keyword columns fetched concurrently via ThreadPoolExecutor — cached 10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346704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3392424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346704"/>
            <a:ext cx="5458968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3392424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Agent Loop (max 4 rounds)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3621024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Gemini reasons → calls run_bigquery_query tool → BQ executes → result back to Gemini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096512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414223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4096512"/>
            <a:ext cx="5458968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4142232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Status events stream to UI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4370832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"Analyzing…" → "Running 2 queries in parallel (step 1)" → "Formatting…"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4846320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35040" y="489204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4846320"/>
            <a:ext cx="5458968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73952" y="4892040"/>
            <a:ext cx="5257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Final JSON + widget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2" y="512064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{ text, intent, widget{sql, chart_type, data}, suggested_questions } — BQ cached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760720"/>
            <a:ext cx="115671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8338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AGENT TOOL: run_bigquery_query(sql)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035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The only tool the agent has is run_bigquery_query(sql). Gemini calls it multiple times per turn — first SELECT DISTINCT to discover filter values, then to fetch actual data. All tool calls within a round run in parallel via asyncio.gather.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78240" y="6053328"/>
            <a:ext cx="2016252" cy="2103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51392" y="6080760"/>
            <a:ext cx="19248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Calibri"/>
              </a:rPr>
              <a:t>Tool calls parallelized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78240" y="6053328"/>
            <a:ext cx="1472184" cy="2103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51392" y="6080760"/>
            <a:ext cx="13807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alibri"/>
              </a:rPr>
              <a:t>60s result cache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78240" y="6053328"/>
            <a:ext cx="1783080" cy="21031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51392" y="6080760"/>
            <a:ext cx="1691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alibri"/>
              </a:rPr>
              <a:t>Max 4 BQ round-trips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6016752"/>
            <a:ext cx="2016252" cy="2103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51392" y="6044184"/>
            <a:ext cx="19248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Calibri"/>
              </a:rPr>
              <a:t>Tool calls parallelized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78240" y="6272784"/>
            <a:ext cx="1472184" cy="2103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51392" y="6300216"/>
            <a:ext cx="13807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alibri"/>
              </a:rPr>
              <a:t>60s result cache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778240" y="6528816"/>
            <a:ext cx="1783080" cy="21031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51392" y="6556248"/>
            <a:ext cx="1691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alibri"/>
              </a:rPr>
              <a:t>Max 4 BQ round-trips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05 ·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A full analytics platform — not just a chat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36576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🗨️  AI Chat +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9280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Multi-turn conversation with full history context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Status events stream in real-time via Server-Sent Events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3 suggested follow-up questions per response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Intent routing: conversational vs. analytical (0ms)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Glossary-aware — custom term→SQL filter mappings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508760"/>
            <a:ext cx="36576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6733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📊  Dynamic Widget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9280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Drag-and-drop layout via React Grid Layout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8 chart types: bar, stacked, line, combo, donut, pie, table, KPI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Add widget directly from chat response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Live / static toggle per widget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Layout persisted per-user in localStorage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508760"/>
            <a:ext cx="36576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733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📋  Scorecard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9280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FTE &amp; Hierarchy: KPI cards, monthly FTP/spend, capital vs. expense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Vendor Summary: tier breakdown, offshore/onshore, resource count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Hierarchy Drill: org-level vendor spend cascade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5-minute server-side TTL cache — fast repeated loads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67912"/>
            <a:ext cx="36576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3250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🔍  NL Query 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One-line natural language → instant chart widget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Refine existing widget with follow-up instruction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Direct SQL mode for power users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Glossary terms automatically injected into every prompt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867912"/>
            <a:ext cx="36576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03250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📄  PDF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519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Full dashboard snapshot via Playwright headless Chrome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Branded header with company logo + EST timestamp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AI-generated narrative per widget section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Page breaks, headers &amp; footers on every page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3867912"/>
            <a:ext cx="36576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03250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🛠️  Governance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519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Glossary manager — map business terms to BQ column filters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Hidden entity mappings (JSON config) for exact SQL injection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Schema Audit — cross-environment column validation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Excel Mapping — source-to-BigQuery field lineage preview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Airflow DAG monitor — pipeline health per environment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06 ·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Modern, cloud-native, open-source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Every component is a Google Cloud or widely-adopted OSS library — no proprietary lock-in below GCP.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39496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1600200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🖥️ 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828800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React 18 — component UI framework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TypeScript — type-safe codebase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Vite — fast dev server &amp; production build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Tailwind CSS — utility-first styling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Recharts — all 8 chart types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React Grid Layout — drag-drop dashboard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Lucide — icon system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TanStack Query — data fetching &amp; caching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39496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600200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7C3AED"/>
                </a:solidFill>
                <a:latin typeface="Calibri"/>
              </a:rPr>
              <a:t>🤖  AI /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828800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Gemini 2.5 Flash — primary model (NL→SQL, agent, PDF)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Vertex AI SDK — GenerativeModel + function calling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Tool Declaration — run_bigquery_query schema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System instructions — schema + few-shot + axis rules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Intent routing — regex classifier (0ms, no API call)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SSE streaming — real-time status events to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087368"/>
            <a:ext cx="539496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" y="4178808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D9488"/>
                </a:solidFill>
                <a:latin typeface="Calibri"/>
              </a:rPr>
              <a:t>🐍 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4407408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FastAPI — async REST API + SSE streaming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uvicorn — ASGI server, production-grade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asyncio + ThreadPoolExecutor — parallel BQ calls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SQLAlchemy + SQLite — glossary &amp; favorites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Playwright — headless Chrome for PDF rendering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Pydantic v2 — request/response validation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httpx — async OAuth2 token validation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openpyxl — Excel file parsing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087368"/>
            <a:ext cx="5394960" cy="5074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4178808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Calibri"/>
              </a:rPr>
              <a:t>☁️ 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4407408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Cloud Run — serverless container, scale-to-zero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Google BigQuery — petabyte-scale OLAP warehouse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Vertex AI API — managed Gemini endpoints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Google OAuth2 — user identity + BQ credential scoping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Docker — multi-stage image (React → Python)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4155"/>
                </a:solidFill>
                <a:latin typeface="Calibri"/>
              </a:rPr>
              <a:t>• python-dotenv — environment configuration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07 · APIs &amp;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Backend API surface &amp; external service integrations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39496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INTERNAL REST API (FastAPI)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47088"/>
            <a:ext cx="50292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8366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8366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/api/query  —  NL → SQL → chart widget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31136"/>
            <a:ext cx="50292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6771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6771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/api/query/sql  —  Direct SQL execution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15184"/>
            <a:ext cx="50292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517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5176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/api/chat  —  AI agent (sync)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99232"/>
            <a:ext cx="50292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3580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35808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/api/chat/stream  —  AI agent (SSE streaming)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383280"/>
            <a:ext cx="502920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41985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41985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/api/scorecard/fte  —  FTE scorecard data bundle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767328"/>
            <a:ext cx="502920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80390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80390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/api/scorecard/vendor  —  Vendor scorecard bundle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151376"/>
            <a:ext cx="502920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187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187952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/api/scorecard/hierarchy  —  Hierarchy scorecard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535424"/>
            <a:ext cx="502920" cy="23774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5720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572000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/api/pdf  —  Generate branded PDF report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919472"/>
            <a:ext cx="502920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956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CRUD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956048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/api/glossary  —  Business term management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303520"/>
            <a:ext cx="502920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3400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CRUD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340096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/api/favorites  —  Saved widget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687568"/>
            <a:ext cx="502920" cy="23774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72414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724144"/>
            <a:ext cx="4251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/api/health  —  AI + BQ readiness check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1508760"/>
            <a:ext cx="59893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160020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EXTERNAL GCP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187451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1874519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Vertex AI — Gemini 2.5 Flash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130551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Function calling, multi-turn chat, streaming generation.
Configured via VERTEX_AI_PROJECT + GEMINI_MODEL env vars.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2834639"/>
            <a:ext cx="55778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89320" y="295351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953511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BigQuery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209543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Ad-hoc query execution, schema introspection.
Billing project configurable independently from data project.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3913631"/>
            <a:ext cx="55778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89320" y="4032503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032503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Google OAuth2 Userinfo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288535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GET googleapis.com/oauth2/v2/userinfo
Resolves Bearer token → user ID + email for data scoping.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4992623"/>
            <a:ext cx="55778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852160" y="5120640"/>
            <a:ext cx="59893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521208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OPTIONAL / FUTURE INTEGRATIONS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5468112"/>
            <a:ext cx="2016252" cy="2103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62472" y="5495544"/>
            <a:ext cx="192481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Calibri"/>
              </a:rPr>
              <a:t>Apache Airflow REST API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78724" y="5468112"/>
            <a:ext cx="2249424" cy="2103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51876" y="5495544"/>
            <a:ext cx="215798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Calibri"/>
              </a:rPr>
              <a:t>Cloud SQL (replace SQLite)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01300" y="5468112"/>
            <a:ext cx="1627632" cy="2103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74452" y="5495544"/>
            <a:ext cx="153619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Calibri"/>
              </a:rPr>
              <a:t>BigQuery BI Engine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89320" y="5742432"/>
            <a:ext cx="2171700" cy="2103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62472" y="5769864"/>
            <a:ext cx="20802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Calibri"/>
              </a:rPr>
              <a:t>Cloud Scheduler (reports)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34172" y="5742432"/>
            <a:ext cx="1316736" cy="2103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07324" y="5769864"/>
            <a:ext cx="12252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Calibri"/>
              </a:rPr>
              <a:t>Secret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08 · SECURITY &amp;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Defense-in-depth: user-scoped credentials at every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No user ever gets broader BigQuery access than their Google identity already has.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57784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AUTHENTICATION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3200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38527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874519"/>
            <a:ext cx="4937760" cy="1024128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29383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Browser sends Bearer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185415"/>
            <a:ext cx="4709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Google OAuth2 access token in Authorization header on every API 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990087"/>
            <a:ext cx="3200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054095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990087"/>
            <a:ext cx="4937760" cy="1024128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044951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Backend validates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300983"/>
            <a:ext cx="4709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Calls Google /userinfo endpoint — extracts user ID + email. Falls back to anonymous in dev mode.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105655"/>
            <a:ext cx="3200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169663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05655"/>
            <a:ext cx="4937760" cy="1024128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160519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Token forwarded to BigQuery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416551"/>
            <a:ext cx="4709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Same Bearer token wraps into google.oauth2.Credentials — BQ runs queries under user's own GCP IAM identity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221223"/>
            <a:ext cx="3200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285231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221223"/>
            <a:ext cx="4937760" cy="1024128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276087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User-scoped data isolation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532119"/>
            <a:ext cx="4709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Glossary terms and favorites in SQLite are filtered by user ID — no cross-user data leakage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508760"/>
            <a:ext cx="5806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160020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SECURITY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187451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🛡️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874519"/>
            <a:ext cx="5166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CORS Whitelist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130551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Allowed origins explicitly listed: localhost:5173, localhost:3000, CLOUD_RUN_URL. No wildcard (*) in production.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834639"/>
            <a:ext cx="5440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295351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953511"/>
            <a:ext cx="5166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No Direct SQL from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209543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All SQL is AI-generated from natural language. Only admins use /api/query/sql. Users cannot construct arbitrary queries.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913631"/>
            <a:ext cx="5440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03250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032503"/>
            <a:ext cx="5166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BigQuery Job Audit Trail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288535"/>
            <a:ext cx="5166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Every BQ query runs as a job attributed to the user's GCP identity — full audit in Cloud Logging automatically.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992623"/>
            <a:ext cx="544068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35040" y="5120640"/>
            <a:ext cx="5806440" cy="1508760"/>
          </a:xfrm>
          <a:prstGeom prst="rect">
            <a:avLst/>
          </a:prstGeom>
          <a:solidFill>
            <a:srgbClr val="F0FDF4"/>
          </a:solidFill>
          <a:ln w="63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521208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alibri"/>
              </a:rPr>
              <a:t>COMPLIANCE NOTES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546811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✓  No PII stored in application DB — only user IDs and term definitions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574243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✓  BigQuery row-level security applied independently at the GCP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601675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✓  All secrets via .env / environment variables — never hardcoded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09 ·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Six layers of optimization — from 8s to sub-2s for common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57784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LATENCY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288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8288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84831"/>
            <a:ext cx="4937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39695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Contextual hint fetching (3 keywords matched)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94559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Calibri"/>
              </a:rPr>
              <a:t>~9s seq.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94559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Calibri"/>
              </a:rPr>
              <a:t>~3s par.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267711"/>
            <a:ext cx="50292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2267711"/>
            <a:ext cx="336956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578607"/>
            <a:ext cx="4937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633471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Repeated hint queries (same keyword)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688335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Calibri"/>
              </a:rPr>
              <a:t>~3s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688335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Calibri"/>
              </a:rPr>
              <a:t>0ms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761487"/>
            <a:ext cx="50292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2761487"/>
            <a:ext cx="50292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072383"/>
            <a:ext cx="4937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127247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Widget BQ query (was run twice)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182111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Calibri"/>
              </a:rPr>
              <a:t>2× BQ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182111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Calibri"/>
              </a:rPr>
              <a:t>1× BQ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255263"/>
            <a:ext cx="50292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3255263"/>
            <a:ext cx="25146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566159"/>
            <a:ext cx="4937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621023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Agent max tool rounds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675887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Calibri"/>
              </a:rPr>
              <a:t>10 rnd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3675887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Calibri"/>
              </a:rPr>
              <a:t>4 rnd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3749039"/>
            <a:ext cx="50292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4880" y="3749039"/>
            <a:ext cx="3017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4059935"/>
            <a:ext cx="4937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11479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Conversational questions (no BQ needed)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169663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Calibri"/>
              </a:rPr>
              <a:t>~5s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4169663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Calibri"/>
              </a:rPr>
              <a:t>~1s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4242815"/>
            <a:ext cx="50292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54880" y="4242815"/>
            <a:ext cx="402336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4553711"/>
            <a:ext cx="493776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608575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Scorecard page load (repeat visit)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4663439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Calibri"/>
              </a:rPr>
              <a:t>~8s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9080" y="4663439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Calibri"/>
              </a:rPr>
              <a:t>&lt;1s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4736591"/>
            <a:ext cx="502920" cy="91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54880" y="4736591"/>
            <a:ext cx="442569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1508760"/>
            <a:ext cx="58064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160020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CACHING ARCHITECTURE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1847088"/>
            <a:ext cx="54864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2" y="18928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Schema cache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209397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BQ column definitions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1956816"/>
            <a:ext cx="1783080" cy="2103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08592" y="1984248"/>
            <a:ext cx="1691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Calibri"/>
              </a:rPr>
              <a:t>∞ (process lifetime)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2359152"/>
            <a:ext cx="54864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1072" y="240487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Hint cache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91072" y="260604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SELECT DISTINCT per column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5440" y="2468880"/>
            <a:ext cx="1005840" cy="2103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08592" y="2496312"/>
            <a:ext cx="914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alibri"/>
              </a:rPr>
              <a:t>10 minutes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2871216"/>
            <a:ext cx="54864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1072" y="291693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BQ result cache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91072" y="3118104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Agent tool call results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35440" y="2980944"/>
            <a:ext cx="1005840" cy="2103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08592" y="3008376"/>
            <a:ext cx="914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alibri"/>
              </a:rPr>
              <a:t>60 seconds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3383280"/>
            <a:ext cx="54864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91072" y="34290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Scorecard cache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91072" y="363016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Pre-built dashboard queries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35440" y="3493008"/>
            <a:ext cx="928116" cy="2103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08592" y="3520440"/>
            <a:ext cx="83667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7706"/>
                </a:solidFill>
                <a:latin typeface="Calibri"/>
              </a:rPr>
              <a:t>5 minutes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3895344"/>
            <a:ext cx="5486400" cy="457200"/>
          </a:xfrm>
          <a:prstGeom prst="rect">
            <a:avLst/>
          </a:prstGeom>
          <a:solidFill>
            <a:srgbClr val="F8FAFC"/>
          </a:solidFill>
          <a:ln w="381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91072" y="394106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Agent model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91072" y="414223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GenerativeModel instance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35440" y="4005072"/>
            <a:ext cx="1783080" cy="2103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08592" y="4032504"/>
            <a:ext cx="1691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Calibri"/>
              </a:rPr>
              <a:t>∞ (process lifetime)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35040" y="4572000"/>
            <a:ext cx="58064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72200" y="466344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CONCURRENCY DESIGN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491947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asyncio event loop — all I/O non-blocking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2200" y="519379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BQ tool calls within a round run in parallel (asyncio.gather)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2200" y="546811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Hint queries fire concurrently (ThreadPoolExecutor)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574243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Scorecard endpoints: 6–9 parallel BQ calls via asyncio.gather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72200" y="6016752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• Schema pre-warmed in background thread at startup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10 · COST OF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Estimated running cost — ~$20–60 / month for a small active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Cloud Run scales to zero. You pay only for what you 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5778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MONTHLY COST (est. 10 active users)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47088"/>
            <a:ext cx="530352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87451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Usage Assumption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19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Est.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48840"/>
            <a:ext cx="530352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1284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Cloud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21284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2 vCPU / 2 GB · 8 hrs/day · 22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21284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$8–15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496312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603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Gemini 2.5 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56032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~500 agent calls/mo · ~3K tokens 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56032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$0.50–2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843784"/>
            <a:ext cx="530352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0779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BigQuery on-demand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90779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~2,000 queries · 500 MB avg 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90779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$5–12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191256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5526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Vertex AI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32552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Included in GCP project quota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25526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$0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538728"/>
            <a:ext cx="5303520" cy="34747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60273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Cloud Logging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36027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First 50 GB/month free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6027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4155"/>
                </a:solidFill>
                <a:latin typeface="Calibri"/>
              </a:rP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886200"/>
            <a:ext cx="530352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95935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95935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10 users, moderate daily usage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395935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~$14–29/mo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321808"/>
            <a:ext cx="5577840" cy="1307592"/>
          </a:xfrm>
          <a:prstGeom prst="rect">
            <a:avLst/>
          </a:prstGeom>
          <a:solidFill>
            <a:srgbClr val="F0F9FF"/>
          </a:solidFill>
          <a:ln w="63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41324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Calibri"/>
              </a:rPr>
              <a:t>COST SCALE NOTES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65099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Gemini 2.5 Flash is ~10× cheaper than 2.5 Pro — significant savings at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592531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Intent routing reduces BQ scans ~30% by skipping non-data questions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19963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Scale-to-zero on Cloud Run means $0 cost outside business hours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1508760"/>
            <a:ext cx="5806440" cy="5120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160020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COST VS. ALTERNATIVES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1847088"/>
            <a:ext cx="553212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36208" y="1874519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Calibri"/>
              </a:rPr>
              <a:t>Tool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1874519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Calibri"/>
              </a:rPr>
              <a:t>Self-Svc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1874519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Calibri"/>
              </a:rPr>
              <a:t>AI Chat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1874519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Calibri"/>
              </a:rPr>
              <a:t>Live BQ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1874519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Calibri"/>
              </a:rPr>
              <a:t>Monthly Cost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2148840"/>
            <a:ext cx="5532120" cy="4114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36208" y="223113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This Dashboard 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19872" y="22311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22311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4040" y="22311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22311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~$20–60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2606040"/>
            <a:ext cx="5532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36208" y="268833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Tableau (10 users)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19872" y="26883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0" y="26883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64040" y="26883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26883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$700+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3063240"/>
            <a:ext cx="553212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36208" y="314553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PowerBI Pro (10 u)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19872" y="31455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78240" y="31455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64040" y="31455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49840" y="31455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$100+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72200" y="3520440"/>
            <a:ext cx="5532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36208" y="360273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Looker (GCP)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19872" y="36027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78240" y="36027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97706"/>
                </a:solidFill>
                <a:latin typeface="Calibri"/>
              </a:rPr>
              <a:t>~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64040" y="36027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49840" y="36027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$5K+/yr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72200" y="3977640"/>
            <a:ext cx="553212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36208" y="405993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Custom BI eng team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19872" y="40599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78240" y="40599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64040" y="40599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49840" y="405993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$15K+/mo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35040" y="5138928"/>
            <a:ext cx="5806440" cy="1490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72200" y="5230368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GEMINI 2.5 FLASH PRICING (VERTEX AI)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72200" y="546811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Input tokens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18320" y="546811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$0.075 / 1M tokens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72200" y="57424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Output tokens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18320" y="574243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$0.30 / 1M tokens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72200" y="601675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500 calls/month (~3K tokens avg)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18320" y="601675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~$0.50 / month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11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One Docker image, one Cloud Run service, zero managed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577840" cy="246888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Calibri"/>
              </a:rPr>
              <a:t>DOCKERFILE (MULTI-STAGE)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5212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86EFAC"/>
                </a:solidFill>
                <a:latin typeface="Courier New"/>
              </a:rPr>
              <a:t># Stage 1: Build React SPA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FROM node:20 AS ui-build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WORKDIR /app/frontend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RUN npm ci &amp;&amp; npm run build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/>
            </a:r>
          </a:p>
          <a:p>
            <a:r>
              <a:rPr sz="850">
                <a:solidFill>
                  <a:srgbClr val="86EFAC"/>
                </a:solidFill>
                <a:latin typeface="Courier New"/>
              </a:rPr>
              <a:t># Stage 2: Python backend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FROM python:3.12-slim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COPY requirements.txt .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RUN pip install -r requirements.txt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COPY --from=ui-build /app/frontend/dist ./static</a:t>
            </a:r>
          </a:p>
          <a:p>
            <a:r>
              <a:rPr sz="850">
                <a:solidFill>
                  <a:srgbClr val="E2E8F0"/>
                </a:solidFill>
                <a:latin typeface="Courier New"/>
              </a:rPr>
              <a:t>CMD ["uvicorn", "main:app", "--host", "0.0.0.0", "--port", "8080"]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14800"/>
            <a:ext cx="557784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420624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CONFIGURATION (ENVIRONMENT VARIABLES)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6227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Calibri"/>
              </a:rPr>
              <a:t>VERTEX_AI_PROJECT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46227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= my-gcp-project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73659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Calibri"/>
              </a:rPr>
              <a:t>VERTEX_AI_LOCATION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73659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= us-central1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01091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Calibri"/>
              </a:rPr>
              <a:t>GEMINI_MODEL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01091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= gemini-2.5-flash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28523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Calibri"/>
              </a:rPr>
              <a:t>BIGQUERY_PROJECT_ID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28523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= my-data-project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5955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Calibri"/>
              </a:rPr>
              <a:t>BIGQUERY_TABLES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55955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= proj.dataset.table1,...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83387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563EB"/>
                </a:solidFill>
                <a:latin typeface="Calibri"/>
              </a:rPr>
              <a:t>CLOUD_RUN_URL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83387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= https://app-xxx.run.app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508760"/>
            <a:ext cx="580644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60020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CLOUD RUN CONFIGURATION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847088"/>
            <a:ext cx="55321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90195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Container 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190195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8080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94560"/>
            <a:ext cx="55321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24942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Min instances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24942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0 (scale-to-zero)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542032"/>
            <a:ext cx="55321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259689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Max instances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259689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3–5 (configurable)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889504"/>
            <a:ext cx="55321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94436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CPU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944368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2 vCPU (always-on for SSE)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236976"/>
            <a:ext cx="55321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329184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Memory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3291840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2 GB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584448"/>
            <a:ext cx="55321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63931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Concurrency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639312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80 requests / instance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931920"/>
            <a:ext cx="553212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98678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Request timeout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986784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alibri"/>
              </a:rPr>
              <a:t>300s (PDF + long agent calls)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480560"/>
            <a:ext cx="580644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57200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Calibri"/>
              </a:rPr>
              <a:t>IAM ROLES REQUIRED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828032"/>
            <a:ext cx="1161288" cy="2103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5352" y="4855464"/>
            <a:ext cx="106984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alibri"/>
              </a:rPr>
              <a:t>Cloud Run SA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482803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roles/bigquery.jobUser + roles/aiplatform.user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5175504"/>
            <a:ext cx="928116" cy="2103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45352" y="5202936"/>
            <a:ext cx="83667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Calibri"/>
              </a:rPr>
              <a:t>End Users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517550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roles/bigquery.dataViewer (on the data tables)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5522976"/>
            <a:ext cx="928116" cy="2103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45352" y="5550408"/>
            <a:ext cx="83667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alibri"/>
              </a:rPr>
              <a:t>Vertex 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5522976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roles/aiplatform.user on VERTEX_AI_PROJECT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Calibri"/>
              </a:rPr>
              <a:t>12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What's next — planned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8229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57784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Calibri"/>
              </a:rPr>
              <a:t>NEAR-TERM  (Next 90 Days)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993392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8348" y="2121408"/>
            <a:ext cx="9144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BigQuery BI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Reserve in-memory capacity → query latency drops from 2–4s to 50–200ms for the main dataset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3017520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348" y="3145536"/>
            <a:ext cx="9144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443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Materialized Views for Scorecards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00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Pre-aggregate heavy GROUP BY queries so scorecard data loads in milliseconds, not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4041648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8" y="4169664"/>
            <a:ext cx="9144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684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Airflow DAG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245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Backend proxy to Airflow REST API — DAG graph, run history, and SQL viewer in the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5065776"/>
            <a:ext cx="128016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8" y="5193792"/>
            <a:ext cx="9144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9926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Gemini Response Streaming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24865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Stream partial narrative text to the UI while BQ queries run — perceived latency near zero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508760"/>
            <a:ext cx="557784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6002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alibri"/>
              </a:rPr>
              <a:t>MEDIUM-TERM  (90–180 Days)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1993392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9068" y="2121408"/>
            <a:ext cx="9144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192024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Role-Based Access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1762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Manager / analyst / admin roles controlling which scorecard tabs and data subsets are visible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3017520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9068" y="3145536"/>
            <a:ext cx="9144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29443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Scheduled Report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3200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Cloud Scheduler + SendGrid — weekly PDF scorecards auto-emailed to stakeholders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4041648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59068" y="4169664"/>
            <a:ext cx="9144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396849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Multi-Table Query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2245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JOIN across workforce + financial + intake tables — agent selects tables based on question context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5065776"/>
            <a:ext cx="128016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59068" y="5193792"/>
            <a:ext cx="9144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49926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Calibri"/>
              </a:rPr>
              <a:t>Cloud SQL (PostgreSQL)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524865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Replace SQLite with managed Cloud SQL for multi-instance deployments and shared glossary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473952"/>
            <a:ext cx="11567160" cy="292608"/>
          </a:xfrm>
          <a:prstGeom prst="rect">
            <a:avLst/>
          </a:prstGeom>
          <a:solidFill>
            <a:srgbClr val="F5F3FF"/>
          </a:solidFill>
          <a:ln w="63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0138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510528"/>
            <a:ext cx="10881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Vision: Any Google-authenticated user asks workforce data questions in plain English — answers in under 2 seconds, governed by existing BigQuery IAM roles.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6400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60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F172A"/>
                </a:solidFill>
                <a:latin typeface="Calibri"/>
              </a:rPr>
              <a:t>Ask your data anything.</a:t>
            </a:r>
          </a:p>
          <a:p>
            <a:pPr algn="ctr"/>
            <a:r>
              <a:rPr sz="3400" b="1">
                <a:solidFill>
                  <a:srgbClr val="2563EB"/>
                </a:solidFill>
                <a:latin typeface="Calibri"/>
              </a:rPr>
              <a:t>Get answers in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487168"/>
            <a:ext cx="76169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Calibri"/>
              </a:rPr>
              <a:t>Gemini Workforce Dashboard puts the full power of BigQuery + Gemini in the hands of every manager — no SQL, no tickets, no waiting.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2377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  <a:latin typeface="Calibri"/>
              </a:rPr>
              <a:t>~1s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Fast path
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2152" y="3200400"/>
            <a:ext cx="2377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6A34A"/>
                </a:solidFill>
                <a:latin typeface="Calibri"/>
              </a:rPr>
              <a:t>~3–6s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794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Agent with
live BQ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4" y="3200400"/>
            <a:ext cx="2377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C3AED"/>
                </a:solidFill>
                <a:latin typeface="Calibri"/>
              </a:rPr>
              <a:t>$20–60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3794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Est. monthly
cost (10 users)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77656" y="3200400"/>
            <a:ext cx="2377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77656" y="32918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3794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SQL needed
by end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11934" y="4663440"/>
            <a:ext cx="1627632" cy="21031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5086" y="4690872"/>
            <a:ext cx="153619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Calibri"/>
              </a:rPr>
              <a:t>React + TypeScript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49294" y="4663440"/>
            <a:ext cx="1472184" cy="21031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2446" y="4690872"/>
            <a:ext cx="13807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Calibri"/>
              </a:rPr>
              <a:t>FastAPI + Python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1206" y="4663440"/>
            <a:ext cx="1472184" cy="2103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04358" y="4690872"/>
            <a:ext cx="138074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  <a:latin typeface="Calibri"/>
              </a:rPr>
              <a:t>Gemini 2.5 Flash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3118" y="4663440"/>
            <a:ext cx="1394460" cy="210312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86270" y="4690872"/>
            <a:ext cx="13030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EA5E9"/>
                </a:solidFill>
                <a:latin typeface="Calibri"/>
              </a:rPr>
              <a:t>Google BigQuery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17306" y="4663440"/>
            <a:ext cx="928116" cy="21031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90458" y="4690872"/>
            <a:ext cx="83667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7706"/>
                </a:solidFill>
                <a:latin typeface="Calibri"/>
              </a:rPr>
              <a:t>Cloud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